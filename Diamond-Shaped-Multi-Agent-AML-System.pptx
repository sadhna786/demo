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Funnel Sans" panose="020B0604020202020204" charset="0"/>
      <p:regular r:id="rId13"/>
    </p:embeddedFont>
    <p:embeddedFont>
      <p:font typeface="Mona Sans Semi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E74422-92E1-4675-9D8A-2A5031C076CC}" v="2" dt="2025-11-09T17:21:55.6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dhna Mall" userId="2664c1f3766a991b" providerId="LiveId" clId="{0C2F03B0-44DF-4702-8E3E-93944E852145}"/>
    <pc:docChg chg="modSld modMainMaster">
      <pc:chgData name="Sadhna Mall" userId="2664c1f3766a991b" providerId="LiveId" clId="{0C2F03B0-44DF-4702-8E3E-93944E852145}" dt="2025-11-09T17:21:55.667" v="20"/>
      <pc:docMkLst>
        <pc:docMk/>
      </pc:docMkLst>
      <pc:sldChg chg="modSp mod">
        <pc:chgData name="Sadhna Mall" userId="2664c1f3766a991b" providerId="LiveId" clId="{0C2F03B0-44DF-4702-8E3E-93944E852145}" dt="2025-11-09T17:01:10.816" v="1" actId="207"/>
        <pc:sldMkLst>
          <pc:docMk/>
          <pc:sldMk cId="0" sldId="256"/>
        </pc:sldMkLst>
        <pc:spChg chg="mod">
          <ac:chgData name="Sadhna Mall" userId="2664c1f3766a991b" providerId="LiveId" clId="{0C2F03B0-44DF-4702-8E3E-93944E852145}" dt="2025-11-09T17:01:10.816" v="1" actId="207"/>
          <ac:spMkLst>
            <pc:docMk/>
            <pc:sldMk cId="0" sldId="256"/>
            <ac:spMk id="4" creationId="{00000000-0000-0000-0000-000000000000}"/>
          </ac:spMkLst>
        </pc:spChg>
        <pc:spChg chg="mod">
          <ac:chgData name="Sadhna Mall" userId="2664c1f3766a991b" providerId="LiveId" clId="{0C2F03B0-44DF-4702-8E3E-93944E852145}" dt="2025-11-09T17:01:05.650" v="0" actId="207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Sadhna Mall" userId="2664c1f3766a991b" providerId="LiveId" clId="{0C2F03B0-44DF-4702-8E3E-93944E852145}" dt="2025-11-09T17:01:30.723" v="5" actId="207"/>
        <pc:sldMkLst>
          <pc:docMk/>
          <pc:sldMk cId="0" sldId="257"/>
        </pc:sldMkLst>
        <pc:spChg chg="mod">
          <ac:chgData name="Sadhna Mall" userId="2664c1f3766a991b" providerId="LiveId" clId="{0C2F03B0-44DF-4702-8E3E-93944E852145}" dt="2025-11-09T17:01:18.007" v="2" actId="207"/>
          <ac:spMkLst>
            <pc:docMk/>
            <pc:sldMk cId="0" sldId="257"/>
            <ac:spMk id="6" creationId="{00000000-0000-0000-0000-000000000000}"/>
          </ac:spMkLst>
        </pc:spChg>
        <pc:spChg chg="mod">
          <ac:chgData name="Sadhna Mall" userId="2664c1f3766a991b" providerId="LiveId" clId="{0C2F03B0-44DF-4702-8E3E-93944E852145}" dt="2025-11-09T17:01:21.338" v="3" actId="207"/>
          <ac:spMkLst>
            <pc:docMk/>
            <pc:sldMk cId="0" sldId="257"/>
            <ac:spMk id="9" creationId="{00000000-0000-0000-0000-000000000000}"/>
          </ac:spMkLst>
        </pc:spChg>
        <pc:spChg chg="mod">
          <ac:chgData name="Sadhna Mall" userId="2664c1f3766a991b" providerId="LiveId" clId="{0C2F03B0-44DF-4702-8E3E-93944E852145}" dt="2025-11-09T17:01:26.927" v="4" actId="207"/>
          <ac:spMkLst>
            <pc:docMk/>
            <pc:sldMk cId="0" sldId="257"/>
            <ac:spMk id="12" creationId="{00000000-0000-0000-0000-000000000000}"/>
          </ac:spMkLst>
        </pc:spChg>
        <pc:spChg chg="mod">
          <ac:chgData name="Sadhna Mall" userId="2664c1f3766a991b" providerId="LiveId" clId="{0C2F03B0-44DF-4702-8E3E-93944E852145}" dt="2025-11-09T17:01:30.723" v="5" actId="207"/>
          <ac:spMkLst>
            <pc:docMk/>
            <pc:sldMk cId="0" sldId="257"/>
            <ac:spMk id="15" creationId="{00000000-0000-0000-0000-000000000000}"/>
          </ac:spMkLst>
        </pc:spChg>
      </pc:sldChg>
      <pc:sldChg chg="modSp mod">
        <pc:chgData name="Sadhna Mall" userId="2664c1f3766a991b" providerId="LiveId" clId="{0C2F03B0-44DF-4702-8E3E-93944E852145}" dt="2025-11-09T17:02:01.791" v="10" actId="207"/>
        <pc:sldMkLst>
          <pc:docMk/>
          <pc:sldMk cId="0" sldId="258"/>
        </pc:sldMkLst>
        <pc:spChg chg="mod">
          <ac:chgData name="Sadhna Mall" userId="2664c1f3766a991b" providerId="LiveId" clId="{0C2F03B0-44DF-4702-8E3E-93944E852145}" dt="2025-11-09T17:01:43.841" v="6" actId="207"/>
          <ac:spMkLst>
            <pc:docMk/>
            <pc:sldMk cId="0" sldId="258"/>
            <ac:spMk id="3" creationId="{00000000-0000-0000-0000-000000000000}"/>
          </ac:spMkLst>
        </pc:spChg>
        <pc:spChg chg="mod">
          <ac:chgData name="Sadhna Mall" userId="2664c1f3766a991b" providerId="LiveId" clId="{0C2F03B0-44DF-4702-8E3E-93944E852145}" dt="2025-11-09T17:01:47.724" v="7" actId="207"/>
          <ac:spMkLst>
            <pc:docMk/>
            <pc:sldMk cId="0" sldId="258"/>
            <ac:spMk id="7" creationId="{00000000-0000-0000-0000-000000000000}"/>
          </ac:spMkLst>
        </pc:spChg>
        <pc:spChg chg="mod">
          <ac:chgData name="Sadhna Mall" userId="2664c1f3766a991b" providerId="LiveId" clId="{0C2F03B0-44DF-4702-8E3E-93944E852145}" dt="2025-11-09T17:01:51.203" v="8" actId="207"/>
          <ac:spMkLst>
            <pc:docMk/>
            <pc:sldMk cId="0" sldId="258"/>
            <ac:spMk id="11" creationId="{00000000-0000-0000-0000-000000000000}"/>
          </ac:spMkLst>
        </pc:spChg>
        <pc:spChg chg="mod">
          <ac:chgData name="Sadhna Mall" userId="2664c1f3766a991b" providerId="LiveId" clId="{0C2F03B0-44DF-4702-8E3E-93944E852145}" dt="2025-11-09T17:02:01.791" v="10" actId="207"/>
          <ac:spMkLst>
            <pc:docMk/>
            <pc:sldMk cId="0" sldId="258"/>
            <ac:spMk id="15" creationId="{00000000-0000-0000-0000-000000000000}"/>
          </ac:spMkLst>
        </pc:spChg>
        <pc:spChg chg="mod">
          <ac:chgData name="Sadhna Mall" userId="2664c1f3766a991b" providerId="LiveId" clId="{0C2F03B0-44DF-4702-8E3E-93944E852145}" dt="2025-11-09T17:01:57.541" v="9" actId="207"/>
          <ac:spMkLst>
            <pc:docMk/>
            <pc:sldMk cId="0" sldId="258"/>
            <ac:spMk id="19" creationId="{00000000-0000-0000-0000-000000000000}"/>
          </ac:spMkLst>
        </pc:spChg>
      </pc:sldChg>
      <pc:sldChg chg="modSp mod">
        <pc:chgData name="Sadhna Mall" userId="2664c1f3766a991b" providerId="LiveId" clId="{0C2F03B0-44DF-4702-8E3E-93944E852145}" dt="2025-11-09T17:02:15.362" v="12" actId="207"/>
        <pc:sldMkLst>
          <pc:docMk/>
          <pc:sldMk cId="0" sldId="259"/>
        </pc:sldMkLst>
        <pc:spChg chg="mod">
          <ac:chgData name="Sadhna Mall" userId="2664c1f3766a991b" providerId="LiveId" clId="{0C2F03B0-44DF-4702-8E3E-93944E852145}" dt="2025-11-09T17:02:10.948" v="11" actId="207"/>
          <ac:spMkLst>
            <pc:docMk/>
            <pc:sldMk cId="0" sldId="259"/>
            <ac:spMk id="5" creationId="{00000000-0000-0000-0000-000000000000}"/>
          </ac:spMkLst>
        </pc:spChg>
        <pc:spChg chg="mod">
          <ac:chgData name="Sadhna Mall" userId="2664c1f3766a991b" providerId="LiveId" clId="{0C2F03B0-44DF-4702-8E3E-93944E852145}" dt="2025-11-09T17:02:15.362" v="12" actId="207"/>
          <ac:spMkLst>
            <pc:docMk/>
            <pc:sldMk cId="0" sldId="259"/>
            <ac:spMk id="7" creationId="{00000000-0000-0000-0000-000000000000}"/>
          </ac:spMkLst>
        </pc:spChg>
      </pc:sldChg>
      <pc:sldChg chg="modSp mod">
        <pc:chgData name="Sadhna Mall" userId="2664c1f3766a991b" providerId="LiveId" clId="{0C2F03B0-44DF-4702-8E3E-93944E852145}" dt="2025-11-09T17:02:45.558" v="16" actId="207"/>
        <pc:sldMkLst>
          <pc:docMk/>
          <pc:sldMk cId="0" sldId="260"/>
        </pc:sldMkLst>
        <pc:spChg chg="mod">
          <ac:chgData name="Sadhna Mall" userId="2664c1f3766a991b" providerId="LiveId" clId="{0C2F03B0-44DF-4702-8E3E-93944E852145}" dt="2025-11-09T17:02:32.019" v="13" actId="207"/>
          <ac:spMkLst>
            <pc:docMk/>
            <pc:sldMk cId="0" sldId="260"/>
            <ac:spMk id="5" creationId="{00000000-0000-0000-0000-000000000000}"/>
          </ac:spMkLst>
        </pc:spChg>
        <pc:spChg chg="mod">
          <ac:chgData name="Sadhna Mall" userId="2664c1f3766a991b" providerId="LiveId" clId="{0C2F03B0-44DF-4702-8E3E-93944E852145}" dt="2025-11-09T17:02:36.695" v="14" actId="207"/>
          <ac:spMkLst>
            <pc:docMk/>
            <pc:sldMk cId="0" sldId="260"/>
            <ac:spMk id="8" creationId="{00000000-0000-0000-0000-000000000000}"/>
          </ac:spMkLst>
        </pc:spChg>
        <pc:spChg chg="mod">
          <ac:chgData name="Sadhna Mall" userId="2664c1f3766a991b" providerId="LiveId" clId="{0C2F03B0-44DF-4702-8E3E-93944E852145}" dt="2025-11-09T17:02:41.111" v="15" actId="207"/>
          <ac:spMkLst>
            <pc:docMk/>
            <pc:sldMk cId="0" sldId="260"/>
            <ac:spMk id="11" creationId="{00000000-0000-0000-0000-000000000000}"/>
          </ac:spMkLst>
        </pc:spChg>
        <pc:spChg chg="mod">
          <ac:chgData name="Sadhna Mall" userId="2664c1f3766a991b" providerId="LiveId" clId="{0C2F03B0-44DF-4702-8E3E-93944E852145}" dt="2025-11-09T17:02:45.558" v="16" actId="207"/>
          <ac:spMkLst>
            <pc:docMk/>
            <pc:sldMk cId="0" sldId="260"/>
            <ac:spMk id="14" creationId="{00000000-0000-0000-0000-000000000000}"/>
          </ac:spMkLst>
        </pc:spChg>
      </pc:sldChg>
      <pc:sldChg chg="modSp mod">
        <pc:chgData name="Sadhna Mall" userId="2664c1f3766a991b" providerId="LiveId" clId="{0C2F03B0-44DF-4702-8E3E-93944E852145}" dt="2025-11-09T17:03:19.737" v="19" actId="207"/>
        <pc:sldMkLst>
          <pc:docMk/>
          <pc:sldMk cId="0" sldId="261"/>
        </pc:sldMkLst>
        <pc:spChg chg="mod">
          <ac:chgData name="Sadhna Mall" userId="2664c1f3766a991b" providerId="LiveId" clId="{0C2F03B0-44DF-4702-8E3E-93944E852145}" dt="2025-11-09T17:02:51.998" v="17" actId="207"/>
          <ac:spMkLst>
            <pc:docMk/>
            <pc:sldMk cId="0" sldId="261"/>
            <ac:spMk id="8" creationId="{00000000-0000-0000-0000-000000000000}"/>
          </ac:spMkLst>
        </pc:spChg>
        <pc:spChg chg="mod">
          <ac:chgData name="Sadhna Mall" userId="2664c1f3766a991b" providerId="LiveId" clId="{0C2F03B0-44DF-4702-8E3E-93944E852145}" dt="2025-11-09T17:02:56.241" v="18" actId="207"/>
          <ac:spMkLst>
            <pc:docMk/>
            <pc:sldMk cId="0" sldId="261"/>
            <ac:spMk id="13" creationId="{00000000-0000-0000-0000-000000000000}"/>
          </ac:spMkLst>
        </pc:spChg>
        <pc:spChg chg="mod">
          <ac:chgData name="Sadhna Mall" userId="2664c1f3766a991b" providerId="LiveId" clId="{0C2F03B0-44DF-4702-8E3E-93944E852145}" dt="2025-11-09T17:03:19.737" v="19" actId="207"/>
          <ac:spMkLst>
            <pc:docMk/>
            <pc:sldMk cId="0" sldId="261"/>
            <ac:spMk id="18" creationId="{00000000-0000-0000-0000-000000000000}"/>
          </ac:spMkLst>
        </pc:spChg>
      </pc:sldChg>
      <pc:sldMasterChg chg="modSldLayout">
        <pc:chgData name="Sadhna Mall" userId="2664c1f3766a991b" providerId="LiveId" clId="{0C2F03B0-44DF-4702-8E3E-93944E852145}" dt="2025-11-09T17:21:55.667" v="20"/>
        <pc:sldMasterMkLst>
          <pc:docMk/>
          <pc:sldMasterMk cId="0" sldId="2147483648"/>
        </pc:sldMasterMkLst>
        <pc:sldLayoutChg chg="setBg">
          <pc:chgData name="Sadhna Mall" userId="2664c1f3766a991b" providerId="LiveId" clId="{0C2F03B0-44DF-4702-8E3E-93944E852145}" dt="2025-11-09T17:21:55.667" v="20"/>
          <pc:sldLayoutMkLst>
            <pc:docMk/>
            <pc:sldMasterMk cId="0" sldId="2147483648"/>
            <pc:sldLayoutMk cId="0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8277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197249" y="192990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chemeClr val="accent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Diamond-Shaped Multi-Agent AML System</a:t>
            </a:r>
            <a:endParaRPr lang="en-US" sz="4450" b="1" dirty="0">
              <a:solidFill>
                <a:schemeClr val="accent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197249" y="3476452"/>
            <a:ext cx="755642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Advanced Graph and Self-Supervised Learning for Financial Crime Detection</a:t>
            </a:r>
            <a:endParaRPr lang="en-US" sz="2200" b="1" dirty="0"/>
          </a:p>
        </p:txBody>
      </p:sp>
      <p:sp>
        <p:nvSpPr>
          <p:cNvPr id="5" name="Text 2"/>
          <p:cNvSpPr/>
          <p:nvPr/>
        </p:nvSpPr>
        <p:spPr>
          <a:xfrm>
            <a:off x="6280190" y="475763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Submitted by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Sadhna Mall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Pranav </a:t>
            </a:r>
            <a:r>
              <a:rPr lang="en-US" sz="1750" dirty="0" err="1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Srihas</a:t>
            </a:r>
            <a:r>
              <a:rPr lang="en-US" sz="1750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Allu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FinSynapse</a:t>
            </a:r>
            <a:endParaRPr lang="en-US" sz="1750" dirty="0">
              <a:latin typeface="Funnel Sans" pitchFamily="34" charset="0"/>
              <a:ea typeface="Funnel Sans" pitchFamily="34" charset="-122"/>
              <a:cs typeface="Funnel Sans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GenAI Team</a:t>
            </a:r>
            <a:endParaRPr lang="en-US" sz="17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05222C-1AB0-AEB0-CB3A-8FF4C8F2C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77174"/>
            <a:ext cx="6197249" cy="60328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17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58270" y="527804"/>
            <a:ext cx="4799171" cy="599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4000" b="1" dirty="0">
                <a:solidFill>
                  <a:schemeClr val="accent1"/>
                </a:solidFill>
                <a:latin typeface="Mona Sans Semi Bold" panose="020B060402020202020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THE Challenge</a:t>
            </a:r>
          </a:p>
        </p:txBody>
      </p:sp>
      <p:sp>
        <p:nvSpPr>
          <p:cNvPr id="4" name="Shape 1"/>
          <p:cNvSpPr/>
          <p:nvPr/>
        </p:nvSpPr>
        <p:spPr>
          <a:xfrm>
            <a:off x="6158270" y="1415534"/>
            <a:ext cx="7800261" cy="1428155"/>
          </a:xfrm>
          <a:prstGeom prst="roundRect">
            <a:avLst>
              <a:gd name="adj" fmla="val 5646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57818" y="1615083"/>
            <a:ext cx="2399586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chemeClr val="accent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Limited Detection</a:t>
            </a:r>
            <a:endParaRPr lang="en-US" sz="1850" b="1" dirty="0">
              <a:solidFill>
                <a:schemeClr val="accent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6357818" y="2030016"/>
            <a:ext cx="7401163" cy="614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Traditional rule-based systems fail to capture sophisticated fraud patterns and complex relational structures.</a:t>
            </a:r>
            <a:endParaRPr lang="en-US" sz="1500" b="1" dirty="0"/>
          </a:p>
        </p:txBody>
      </p:sp>
      <p:sp>
        <p:nvSpPr>
          <p:cNvPr id="7" name="Shape 4"/>
          <p:cNvSpPr/>
          <p:nvPr/>
        </p:nvSpPr>
        <p:spPr>
          <a:xfrm>
            <a:off x="6158270" y="3035618"/>
            <a:ext cx="7800261" cy="1428155"/>
          </a:xfrm>
          <a:prstGeom prst="roundRect">
            <a:avLst>
              <a:gd name="adj" fmla="val 5646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5"/>
          <p:cNvSpPr/>
          <p:nvPr/>
        </p:nvSpPr>
        <p:spPr>
          <a:xfrm>
            <a:off x="6357818" y="3235166"/>
            <a:ext cx="2399586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chemeClr val="accent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High False Positives</a:t>
            </a:r>
            <a:endParaRPr lang="en-US" sz="1850" b="1" dirty="0">
              <a:solidFill>
                <a:schemeClr val="accent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6357818" y="3650099"/>
            <a:ext cx="7401163" cy="614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Static threshold approaches generate excessive alerts, overwhelming compliance teams.</a:t>
            </a:r>
            <a:endParaRPr lang="en-US" sz="1500" b="1" dirty="0"/>
          </a:p>
        </p:txBody>
      </p:sp>
      <p:sp>
        <p:nvSpPr>
          <p:cNvPr id="10" name="Shape 7"/>
          <p:cNvSpPr/>
          <p:nvPr/>
        </p:nvSpPr>
        <p:spPr>
          <a:xfrm>
            <a:off x="6158270" y="4655701"/>
            <a:ext cx="7800261" cy="1428155"/>
          </a:xfrm>
          <a:prstGeom prst="roundRect">
            <a:avLst>
              <a:gd name="adj" fmla="val 5646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57818" y="4855250"/>
            <a:ext cx="2459117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chemeClr val="accent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Fragmented Analysis</a:t>
            </a:r>
            <a:endParaRPr lang="en-US" sz="1850" b="1" dirty="0">
              <a:solidFill>
                <a:schemeClr val="accent1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6357818" y="5270182"/>
            <a:ext cx="7401163" cy="614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Transaction, loan, KYC, and deposit datasets analyzed in isolation, missing cross-domain relationships.</a:t>
            </a:r>
            <a:endParaRPr lang="en-US" sz="1500" b="1" dirty="0"/>
          </a:p>
        </p:txBody>
      </p:sp>
      <p:sp>
        <p:nvSpPr>
          <p:cNvPr id="13" name="Shape 10"/>
          <p:cNvSpPr/>
          <p:nvPr/>
        </p:nvSpPr>
        <p:spPr>
          <a:xfrm>
            <a:off x="6158270" y="6275784"/>
            <a:ext cx="7800261" cy="1428155"/>
          </a:xfrm>
          <a:prstGeom prst="roundRect">
            <a:avLst>
              <a:gd name="adj" fmla="val 5646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57818" y="6475333"/>
            <a:ext cx="2399586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chemeClr val="accent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Poor Transparency</a:t>
            </a:r>
            <a:endParaRPr lang="en-US" sz="1850" b="1" dirty="0">
              <a:solidFill>
                <a:schemeClr val="accent1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6357818" y="6890266"/>
            <a:ext cx="7401163" cy="614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Customers and investigators lack clear insights into flagged activities and risk decisions.</a:t>
            </a:r>
            <a:endParaRPr lang="en-US" sz="15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9550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chemeClr val="accent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Our Solution</a:t>
            </a:r>
            <a:endParaRPr lang="en-US" sz="4450" b="1" dirty="0">
              <a:solidFill>
                <a:schemeClr val="accent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35791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diamond-shaped multi-agent architecture integrating cutting-edge AI techniques for intelligent AML detection.</a:t>
            </a:r>
            <a:endParaRPr lang="en-US" sz="1750" b="1" dirty="0"/>
          </a:p>
        </p:txBody>
      </p:sp>
      <p:sp>
        <p:nvSpPr>
          <p:cNvPr id="4" name="Text 2"/>
          <p:cNvSpPr/>
          <p:nvPr/>
        </p:nvSpPr>
        <p:spPr>
          <a:xfrm>
            <a:off x="793790" y="297596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331012"/>
            <a:ext cx="6407944" cy="3048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3505319"/>
            <a:ext cx="33919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chemeClr val="accent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King Agent Routes Tasks</a:t>
            </a:r>
            <a:endParaRPr lang="en-US" sz="2200" b="1" dirty="0">
              <a:solidFill>
                <a:schemeClr val="accent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3995738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FinBERT + SDNL embeddings analyze datasets and direct to specialized sub-agents.</a:t>
            </a:r>
            <a:endParaRPr lang="en-US" sz="1750" b="1" dirty="0"/>
          </a:p>
        </p:txBody>
      </p:sp>
      <p:sp>
        <p:nvSpPr>
          <p:cNvPr id="8" name="Text 6"/>
          <p:cNvSpPr/>
          <p:nvPr/>
        </p:nvSpPr>
        <p:spPr>
          <a:xfrm>
            <a:off x="7428548" y="297596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02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3331012"/>
            <a:ext cx="6408063" cy="3048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0" name="Text 8"/>
          <p:cNvSpPr/>
          <p:nvPr/>
        </p:nvSpPr>
        <p:spPr>
          <a:xfrm>
            <a:off x="7428548" y="3505319"/>
            <a:ext cx="40907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chemeClr val="accent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Sub-Agents Analyze Domains</a:t>
            </a:r>
            <a:endParaRPr lang="en-US" sz="2200" b="1" dirty="0">
              <a:solidFill>
                <a:schemeClr val="accent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7428548" y="3995738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Four specialized agents use GAT/GNN and decision trees for deep domain analysis.</a:t>
            </a:r>
            <a:endParaRPr lang="en-US" sz="1750" b="1" dirty="0"/>
          </a:p>
        </p:txBody>
      </p:sp>
      <p:sp>
        <p:nvSpPr>
          <p:cNvPr id="12" name="Text 10"/>
          <p:cNvSpPr/>
          <p:nvPr/>
        </p:nvSpPr>
        <p:spPr>
          <a:xfrm>
            <a:off x="793790" y="511837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473422"/>
            <a:ext cx="6407944" cy="3048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4" name="Text 12"/>
          <p:cNvSpPr/>
          <p:nvPr/>
        </p:nvSpPr>
        <p:spPr>
          <a:xfrm>
            <a:off x="793790" y="5647730"/>
            <a:ext cx="34878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chemeClr val="accent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Risk Decision Aggregates</a:t>
            </a:r>
            <a:endParaRPr lang="en-US" sz="2200" b="1" dirty="0">
              <a:solidFill>
                <a:schemeClr val="accent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793790" y="6138148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Neural Combiner synthesizes outputs into unified AML risk score.</a:t>
            </a:r>
            <a:endParaRPr lang="en-US" sz="1750" b="1" dirty="0"/>
          </a:p>
        </p:txBody>
      </p:sp>
      <p:sp>
        <p:nvSpPr>
          <p:cNvPr id="16" name="Text 14"/>
          <p:cNvSpPr/>
          <p:nvPr/>
        </p:nvSpPr>
        <p:spPr>
          <a:xfrm>
            <a:off x="7428548" y="511837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428548" y="5473422"/>
            <a:ext cx="6408063" cy="3048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8" name="Text 16"/>
          <p:cNvSpPr/>
          <p:nvPr/>
        </p:nvSpPr>
        <p:spPr>
          <a:xfrm>
            <a:off x="7428548" y="5647730"/>
            <a:ext cx="35342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chemeClr val="accent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Virtual Assistant Explains</a:t>
            </a:r>
            <a:endParaRPr lang="en-US" sz="2200" b="1" dirty="0">
              <a:solidFill>
                <a:schemeClr val="accent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7428548" y="6138148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GPT-4 provides real-time, interpretable insights to users</a:t>
            </a:r>
            <a:r>
              <a:rPr lang="en-US" sz="1750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23585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chemeClr val="accent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System Architecture</a:t>
            </a:r>
            <a:endParaRPr lang="en-US" sz="4450" b="1" dirty="0">
              <a:solidFill>
                <a:schemeClr val="accent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chemeClr val="accent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Central Intelligence</a:t>
            </a:r>
            <a:endParaRPr lang="en-US" sz="2200" b="1" dirty="0">
              <a:solidFill>
                <a:schemeClr val="accent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6280190" y="4215408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King Agent uses FinBERT and SDNL embeddings for contextual understanding and intelligent task routing across all domains.</a:t>
            </a:r>
            <a:endParaRPr lang="en-US" sz="1750" b="1" dirty="0"/>
          </a:p>
        </p:txBody>
      </p:sp>
      <p:sp>
        <p:nvSpPr>
          <p:cNvPr id="6" name="Text 3"/>
          <p:cNvSpPr/>
          <p:nvPr/>
        </p:nvSpPr>
        <p:spPr>
          <a:xfrm>
            <a:off x="10342721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chemeClr val="accent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Unified Risk Scoring</a:t>
            </a:r>
            <a:endParaRPr lang="en-US" sz="2200" b="1" dirty="0">
              <a:solidFill>
                <a:schemeClr val="accent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10342721" y="4215408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Risk Decision Agent employs Deep Ensemble techniques to aggregate insights and generate comprehensive AML scores.</a:t>
            </a:r>
            <a:endParaRPr lang="en-US" sz="175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4E32E3-D3C3-C548-1F1E-4159E90285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93902"/>
            <a:ext cx="6070422" cy="54417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26569"/>
            <a:ext cx="792241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chemeClr val="accent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Four Specialized Sub-Agents</a:t>
            </a:r>
            <a:endParaRPr lang="en-US" sz="4450" b="1" dirty="0">
              <a:solidFill>
                <a:schemeClr val="accent1"/>
              </a:solidFill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288977"/>
            <a:ext cx="680442" cy="6804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chemeClr val="accent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Transaction Agent</a:t>
            </a:r>
            <a:endParaRPr lang="en-US" sz="2200" b="1" dirty="0">
              <a:solidFill>
                <a:schemeClr val="accent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3743325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Uses GAT/GNN to detect fraudulent patterns in account transaction networks and suspicious relational structures.</a:t>
            </a:r>
            <a:endParaRPr lang="en-US" sz="1750" b="1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2288977"/>
            <a:ext cx="680442" cy="6804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6884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chemeClr val="accent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Loan Agent</a:t>
            </a:r>
            <a:endParaRPr lang="en-US" sz="2200" b="1" dirty="0">
              <a:solidFill>
                <a:schemeClr val="accent1"/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7456884" y="3743325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Employs GNN to identify suspicious loans, linked applications, and potential collusion or synthetic identities.</a:t>
            </a:r>
            <a:endParaRPr lang="en-US" sz="1750" b="1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4922758"/>
            <a:ext cx="680442" cy="6804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3790" y="58866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chemeClr val="accent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KYC Agent</a:t>
            </a:r>
            <a:endParaRPr lang="en-US" sz="2200" b="1" dirty="0">
              <a:solidFill>
                <a:schemeClr val="accent1"/>
              </a:solidFill>
            </a:endParaRPr>
          </a:p>
        </p:txBody>
      </p:sp>
      <p:sp>
        <p:nvSpPr>
          <p:cNvPr id="11" name="Text 6"/>
          <p:cNvSpPr/>
          <p:nvPr/>
        </p:nvSpPr>
        <p:spPr>
          <a:xfrm>
            <a:off x="793790" y="6377107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Leverages Decision Trees and rule-based systems to verify customer identity and ensure compliance.</a:t>
            </a:r>
            <a:endParaRPr lang="en-US" sz="1750" b="1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56884" y="4922758"/>
            <a:ext cx="680442" cy="68044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6884" y="58866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chemeClr val="accent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Deposit Agent</a:t>
            </a:r>
            <a:endParaRPr lang="en-US" sz="2200" b="1" dirty="0">
              <a:solidFill>
                <a:schemeClr val="accent1"/>
              </a:solidFill>
            </a:endParaRPr>
          </a:p>
        </p:txBody>
      </p:sp>
      <p:sp>
        <p:nvSpPr>
          <p:cNvPr id="14" name="Text 8"/>
          <p:cNvSpPr/>
          <p:nvPr/>
        </p:nvSpPr>
        <p:spPr>
          <a:xfrm>
            <a:off x="7456884" y="6377107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Applies GAT/GNN to detect anomalous deposit patterns, circular transactions, and temporal irregularities.</a:t>
            </a:r>
            <a:endParaRPr lang="en-US" sz="175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702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6642" y="3297079"/>
            <a:ext cx="6414373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b="1" dirty="0">
                <a:solidFill>
                  <a:schemeClr val="accent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Advanced AI Techniques</a:t>
            </a:r>
            <a:endParaRPr lang="en-US" sz="4250" b="1" dirty="0">
              <a:solidFill>
                <a:schemeClr val="accent1"/>
              </a:solidFill>
            </a:endParaRPr>
          </a:p>
        </p:txBody>
      </p:sp>
      <p:sp>
        <p:nvSpPr>
          <p:cNvPr id="4" name="Shape 1"/>
          <p:cNvSpPr/>
          <p:nvPr/>
        </p:nvSpPr>
        <p:spPr>
          <a:xfrm>
            <a:off x="756642" y="4296966"/>
            <a:ext cx="4228267" cy="3338513"/>
          </a:xfrm>
          <a:prstGeom prst="roundRect">
            <a:avLst>
              <a:gd name="adj" fmla="val 2720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AC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87122" y="4327446"/>
            <a:ext cx="4167307" cy="648533"/>
          </a:xfrm>
          <a:prstGeom prst="roundRect">
            <a:avLst>
              <a:gd name="adj" fmla="val 8363"/>
            </a:avLst>
          </a:prstGeom>
          <a:solidFill>
            <a:srgbClr val="E2E4E9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08672" y="4485680"/>
            <a:ext cx="324207" cy="32420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3221" y="5192078"/>
            <a:ext cx="3280529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chemeClr val="accent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Self-Supervised Learning</a:t>
            </a:r>
            <a:endParaRPr lang="en-US" sz="2100" b="1" dirty="0">
              <a:solidFill>
                <a:schemeClr val="accent1"/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1003221" y="5659517"/>
            <a:ext cx="3735110" cy="1729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BYOL and SDNL generate robust embeddings without labeled data, enabling the King Agent to understand complex financial contexts.</a:t>
            </a:r>
            <a:endParaRPr lang="en-US" sz="1700" b="1" dirty="0"/>
          </a:p>
        </p:txBody>
      </p:sp>
      <p:sp>
        <p:nvSpPr>
          <p:cNvPr id="9" name="Shape 5"/>
          <p:cNvSpPr/>
          <p:nvPr/>
        </p:nvSpPr>
        <p:spPr>
          <a:xfrm>
            <a:off x="5201007" y="4296966"/>
            <a:ext cx="4228267" cy="3338513"/>
          </a:xfrm>
          <a:prstGeom prst="roundRect">
            <a:avLst>
              <a:gd name="adj" fmla="val 2720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AC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231487" y="4327446"/>
            <a:ext cx="4167307" cy="648533"/>
          </a:xfrm>
          <a:prstGeom prst="roundRect">
            <a:avLst>
              <a:gd name="adj" fmla="val 8363"/>
            </a:avLst>
          </a:prstGeom>
          <a:solidFill>
            <a:srgbClr val="E2E4E9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53037" y="4485680"/>
            <a:ext cx="324207" cy="32420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47586" y="5192078"/>
            <a:ext cx="3060859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chemeClr val="accent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Graph Neural Networks</a:t>
            </a:r>
            <a:endParaRPr lang="en-US" sz="2100" b="1" dirty="0">
              <a:solidFill>
                <a:schemeClr val="accent1"/>
              </a:solidFill>
            </a:endParaRPr>
          </a:p>
        </p:txBody>
      </p:sp>
      <p:sp>
        <p:nvSpPr>
          <p:cNvPr id="13" name="Text 8"/>
          <p:cNvSpPr/>
          <p:nvPr/>
        </p:nvSpPr>
        <p:spPr>
          <a:xfrm>
            <a:off x="5447586" y="5659517"/>
            <a:ext cx="3735110" cy="1037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GAT and GNN model relational patterns between accounts, loans, and deposits to detect networked fraud.</a:t>
            </a:r>
            <a:endParaRPr lang="en-US" sz="1700" b="1" dirty="0"/>
          </a:p>
        </p:txBody>
      </p:sp>
      <p:sp>
        <p:nvSpPr>
          <p:cNvPr id="14" name="Shape 9"/>
          <p:cNvSpPr/>
          <p:nvPr/>
        </p:nvSpPr>
        <p:spPr>
          <a:xfrm>
            <a:off x="9645372" y="4296966"/>
            <a:ext cx="4228267" cy="3338513"/>
          </a:xfrm>
          <a:prstGeom prst="roundRect">
            <a:avLst>
              <a:gd name="adj" fmla="val 2720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AC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9675852" y="4327446"/>
            <a:ext cx="4167307" cy="648533"/>
          </a:xfrm>
          <a:prstGeom prst="roundRect">
            <a:avLst>
              <a:gd name="adj" fmla="val 8363"/>
            </a:avLst>
          </a:prstGeom>
          <a:solidFill>
            <a:srgbClr val="E2E4E9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597402" y="4485680"/>
            <a:ext cx="324207" cy="32420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891951" y="5192078"/>
            <a:ext cx="2702600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chemeClr val="accent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Natural Language AI</a:t>
            </a:r>
            <a:endParaRPr lang="en-US" sz="2100" b="1" dirty="0">
              <a:solidFill>
                <a:schemeClr val="accent1"/>
              </a:solidFill>
            </a:endParaRPr>
          </a:p>
        </p:txBody>
      </p:sp>
      <p:sp>
        <p:nvSpPr>
          <p:cNvPr id="18" name="Text 12"/>
          <p:cNvSpPr/>
          <p:nvPr/>
        </p:nvSpPr>
        <p:spPr>
          <a:xfrm>
            <a:off x="9891951" y="5659517"/>
            <a:ext cx="3735110" cy="1037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GPT-4 Virtual Assistant provides explainable insights, bridging AI reasoning with human understanding</a:t>
            </a:r>
            <a:r>
              <a:rPr lang="en-US" sz="17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</a:t>
            </a:r>
            <a:endParaRPr lang="en-US" sz="17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26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chemeClr val="accent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Data Integration</a:t>
            </a:r>
            <a:endParaRPr lang="en-US" sz="4450" b="1" dirty="0">
              <a:solidFill>
                <a:schemeClr val="accent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168366"/>
            <a:ext cx="29510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chemeClr val="accent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Four Kaggle Datasets</a:t>
            </a:r>
            <a:endParaRPr lang="en-US" sz="2200" b="1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749510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AML Transaction Dataset:</a:t>
            </a:r>
            <a:r>
              <a:rPr lang="en-US" sz="1750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Transactions with fraud labels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191708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KYC Dataset:</a:t>
            </a:r>
            <a:r>
              <a:rPr lang="en-US" sz="1750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Customer verification and identity attributes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633907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Loan Dataset:</a:t>
            </a:r>
            <a:r>
              <a:rPr lang="en-US" sz="1750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Loan applications with risk indicators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076105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Deposit Dataset:</a:t>
            </a:r>
            <a:r>
              <a:rPr lang="en-US" sz="1750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Deposit records with temporal and network attributes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4665821"/>
            <a:ext cx="31106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chemeClr val="accent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Preprocessing Pipeline</a:t>
            </a:r>
            <a:endParaRPr lang="en-US" sz="2200" b="1" dirty="0">
              <a:solidFill>
                <a:schemeClr val="accent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793790" y="5246965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Data cleaning, feature engineering, graph construction, self-supervised embeddings, and train-test splits ensure high-quality inputs.</a:t>
            </a:r>
            <a:endParaRPr lang="en-US" sz="1750" b="1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096" y="2196703"/>
            <a:ext cx="4885015" cy="48850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645813"/>
            <a:ext cx="730388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chemeClr val="accent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Expected Business Impact</a:t>
            </a:r>
            <a:endParaRPr lang="en-US" sz="4450" b="1" dirty="0">
              <a:solidFill>
                <a:schemeClr val="accent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4808101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85%</a:t>
            </a:r>
            <a:endParaRPr lang="en-US" sz="5850" b="1" dirty="0"/>
          </a:p>
        </p:txBody>
      </p:sp>
      <p:sp>
        <p:nvSpPr>
          <p:cNvPr id="5" name="Text 2"/>
          <p:cNvSpPr/>
          <p:nvPr/>
        </p:nvSpPr>
        <p:spPr>
          <a:xfrm>
            <a:off x="1455420" y="58398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chemeClr val="accent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Detection Rate</a:t>
            </a:r>
            <a:endParaRPr lang="en-US" sz="2200" b="1" dirty="0">
              <a:solidFill>
                <a:schemeClr val="accent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90" y="6330315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b="1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Improved capture of complex, multi-domain fraud patterns through relational analysis.</a:t>
            </a:r>
            <a:endParaRPr lang="en-US" sz="1750" b="1" dirty="0"/>
          </a:p>
        </p:txBody>
      </p:sp>
      <p:sp>
        <p:nvSpPr>
          <p:cNvPr id="7" name="Text 4"/>
          <p:cNvSpPr/>
          <p:nvPr/>
        </p:nvSpPr>
        <p:spPr>
          <a:xfrm>
            <a:off x="5235893" y="4808101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60%</a:t>
            </a:r>
            <a:endParaRPr lang="en-US" sz="5850" b="1" dirty="0"/>
          </a:p>
        </p:txBody>
      </p:sp>
      <p:sp>
        <p:nvSpPr>
          <p:cNvPr id="8" name="Text 5"/>
          <p:cNvSpPr/>
          <p:nvPr/>
        </p:nvSpPr>
        <p:spPr>
          <a:xfrm>
            <a:off x="5866328" y="5839897"/>
            <a:ext cx="28977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chemeClr val="accent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Fewer False Positives</a:t>
            </a:r>
            <a:endParaRPr lang="en-US" sz="2200" b="1" dirty="0">
              <a:solidFill>
                <a:schemeClr val="accent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5235893" y="633031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b="1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Reduced alert fatigue compared to traditional rule-based AML systems</a:t>
            </a: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77995" y="4808101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100%</a:t>
            </a:r>
            <a:endParaRPr lang="en-US" sz="5850" b="1" dirty="0"/>
          </a:p>
        </p:txBody>
      </p:sp>
      <p:sp>
        <p:nvSpPr>
          <p:cNvPr id="11" name="Text 8"/>
          <p:cNvSpPr/>
          <p:nvPr/>
        </p:nvSpPr>
        <p:spPr>
          <a:xfrm>
            <a:off x="10339626" y="58398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chemeClr val="accent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Transparency</a:t>
            </a:r>
            <a:endParaRPr lang="en-US" sz="2200" b="1" dirty="0">
              <a:solidFill>
                <a:schemeClr val="accent1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9677995" y="6330315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b="1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Virtual Assistant enhances customer trust and regulatory compliance through explainability.</a:t>
            </a:r>
            <a:endParaRPr lang="en-US" sz="175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56429"/>
            <a:ext cx="60689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chemeClr val="accent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Future Enhancements</a:t>
            </a:r>
            <a:endParaRPr lang="en-US" sz="4450" b="1" dirty="0">
              <a:solidFill>
                <a:schemeClr val="accent1"/>
              </a:solidFill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18836"/>
            <a:ext cx="6521410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chemeClr val="accent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Multi-Modal Data</a:t>
            </a:r>
            <a:endParaRPr lang="en-US" sz="2200" b="1" dirty="0">
              <a:solidFill>
                <a:schemeClr val="accent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1020604" y="3743325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Integration of emails and documents for comprehensive fraud detection</a:t>
            </a:r>
            <a:r>
              <a:rPr lang="en-US" sz="1750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118836"/>
            <a:ext cx="6521410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42014" y="3252907"/>
            <a:ext cx="29648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chemeClr val="accent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Real-Time Processing</a:t>
            </a:r>
            <a:endParaRPr lang="en-US" sz="2200" b="1" dirty="0">
              <a:solidFill>
                <a:schemeClr val="accent1"/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7542014" y="3743325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Streaming implementation of transaction graphs for instant risk assessment.</a:t>
            </a:r>
            <a:endParaRPr lang="en-US" sz="1750" b="1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695944"/>
            <a:ext cx="6521410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0604" y="5830014"/>
            <a:ext cx="31777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chemeClr val="accent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Multi-Lingual Assistant</a:t>
            </a:r>
            <a:endParaRPr lang="en-US" sz="2200" b="1" dirty="0">
              <a:solidFill>
                <a:schemeClr val="accent1"/>
              </a:solidFill>
            </a:endParaRPr>
          </a:p>
        </p:txBody>
      </p:sp>
      <p:sp>
        <p:nvSpPr>
          <p:cNvPr id="11" name="Text 6"/>
          <p:cNvSpPr/>
          <p:nvPr/>
        </p:nvSpPr>
        <p:spPr>
          <a:xfrm>
            <a:off x="1020604" y="6320433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Context-aware Virtual Assistant supporting multiple languages</a:t>
            </a:r>
            <a:r>
              <a:rPr lang="en-US" sz="1750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695944"/>
            <a:ext cx="6521410" cy="9072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42014" y="58300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chemeClr val="accent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Explainable AI</a:t>
            </a:r>
            <a:endParaRPr lang="en-US" sz="2200" b="1" dirty="0">
              <a:solidFill>
                <a:schemeClr val="accent1"/>
              </a:solidFill>
            </a:endParaRPr>
          </a:p>
        </p:txBody>
      </p:sp>
      <p:sp>
        <p:nvSpPr>
          <p:cNvPr id="14" name="Text 8"/>
          <p:cNvSpPr/>
          <p:nvPr/>
        </p:nvSpPr>
        <p:spPr>
          <a:xfrm>
            <a:off x="7542014" y="6320433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Enhanced interpretability techniques for regulatory review and audit.</a:t>
            </a:r>
            <a:endParaRPr lang="en-US" sz="175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692706"/>
            <a:ext cx="7556421" cy="2835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7200" b="1" dirty="0">
                <a:solidFill>
                  <a:schemeClr val="accent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The Future of AML</a:t>
            </a:r>
            <a:endParaRPr lang="en-US" sz="7200" b="1" dirty="0">
              <a:solidFill>
                <a:schemeClr val="accent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3868222"/>
            <a:ext cx="7556421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This diamond-shaped multi-agent system demonstrates the transformative potential of modern AI in anti-money laundering. By combining self-supervised learning, graph neural networks, and intelligent virtual assistance, we enable financial institutions to detect sophisticated fraud patterns, reduce false positives, and provide transparent, explainable risk assessments.</a:t>
            </a:r>
            <a:endParaRPr lang="en-US" sz="1750" b="1" dirty="0"/>
          </a:p>
        </p:txBody>
      </p:sp>
      <p:sp>
        <p:nvSpPr>
          <p:cNvPr id="5" name="Text 2"/>
          <p:cNvSpPr/>
          <p:nvPr/>
        </p:nvSpPr>
        <p:spPr>
          <a:xfrm>
            <a:off x="6620351" y="6555938"/>
            <a:ext cx="72162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"Capturing complex relational patterns through cutting-edge AI to protect the financial ecosystem."</a:t>
            </a:r>
            <a:endParaRPr lang="en-US" sz="1750" b="1" dirty="0"/>
          </a:p>
        </p:txBody>
      </p:sp>
      <p:sp>
        <p:nvSpPr>
          <p:cNvPr id="6" name="Shape 3"/>
          <p:cNvSpPr/>
          <p:nvPr/>
        </p:nvSpPr>
        <p:spPr>
          <a:xfrm>
            <a:off x="6280190" y="6300788"/>
            <a:ext cx="30480" cy="1236107"/>
          </a:xfrm>
          <a:prstGeom prst="rect">
            <a:avLst/>
          </a:prstGeom>
          <a:solidFill>
            <a:srgbClr val="373B48"/>
          </a:solidFill>
          <a:ln/>
        </p:spPr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819078C-4E27-23C6-65F9-06456FB54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449659"/>
            <a:ext cx="6158269" cy="55533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582</Words>
  <Application>Microsoft Office PowerPoint</Application>
  <PresentationFormat>Custom</PresentationFormat>
  <Paragraphs>91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Mona Sans Semi Bold</vt:lpstr>
      <vt:lpstr>Arial</vt:lpstr>
      <vt:lpstr>Mona Sans Light</vt:lpstr>
      <vt:lpstr>Funnel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Sadhna Mall</dc:creator>
  <cp:lastModifiedBy>Sadhna Mall</cp:lastModifiedBy>
  <cp:revision>2</cp:revision>
  <dcterms:created xsi:type="dcterms:W3CDTF">2025-11-09T15:58:49Z</dcterms:created>
  <dcterms:modified xsi:type="dcterms:W3CDTF">2025-11-09T17:22:02Z</dcterms:modified>
</cp:coreProperties>
</file>